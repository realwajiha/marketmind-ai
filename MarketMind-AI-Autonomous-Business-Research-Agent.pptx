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latypi"/>
      <p:regular r:id="rId201314"/>
    </p:embeddedFont>
    <p:embeddedFont>
      <p:font typeface="Platypi Medium"/>
      <p:regular r:id="rId201315"/>
    </p:embeddedFont>
    <p:embeddedFont>
      <p:font typeface="Platypi SemiBold"/>
      <p:regular r:id="rId201316"/>
    </p:embeddedFont>
    <p:embeddedFont>
      <p:font typeface="Platypi Bold"/>
      <p:regular r:id="rId201317"/>
    </p:embeddedFont>
    <p:embeddedFont>
      <p:font typeface="Source Serif 4"/>
      <p:regular r:id="rId201318"/>
    </p:embeddedFont>
    <p:embeddedFont>
      <p:font typeface="Source Serif 4 Medium"/>
      <p:regular r:id="rId201319"/>
    </p:embeddedFont>
    <p:embeddedFont>
      <p:font typeface="Source Serif 4 SemiBold"/>
      <p:regular r:id="rId201320"/>
    </p:embeddedFont>
    <p:embeddedFont>
      <p:font typeface="Source Serif 4 Bold"/>
      <p:regular r:id="rId201321"/>
    </p:embeddedFont>
    <p:embeddedFont>
      <p:font typeface="Source Serif 4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6.png"/><Relationship Id="rId9" Type="http://schemas.openxmlformats.org/officeDocument/2006/relationships/image" Target="../media/image-3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MarketMind AI: Autonomous Business Research Agent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University Research Presentation — Formal Academic Defence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245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Business Problem: Manual Market Research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61475" y="1895277"/>
            <a:ext cx="6296860" cy="975221"/>
          </a:xfrm>
          <a:prstGeom prst="roundRect">
            <a:avLst>
              <a:gd name="adj" fmla="val 2617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831532" y="2065338"/>
            <a:ext cx="5956746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28–40 Hours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31532" y="2441873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Analyst time consumed per single market brief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023592"/>
            <a:ext cx="6296860" cy="975221"/>
          </a:xfrm>
          <a:prstGeom prst="roundRect">
            <a:avLst>
              <a:gd name="adj" fmla="val 2617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831532" y="3193653"/>
            <a:ext cx="5956746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Bottleneck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31532" y="3570188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Manual source discovery, synthesis, and verification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4151908"/>
            <a:ext cx="6296860" cy="975221"/>
          </a:xfrm>
          <a:prstGeom prst="roundRect">
            <a:avLst>
              <a:gd name="adj" fmla="val 2617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831532" y="4321969"/>
            <a:ext cx="5956746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💸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Cost Impact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31532" y="4698504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High-value analyst time spent on routine research tasks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5280223"/>
            <a:ext cx="6296860" cy="975221"/>
          </a:xfrm>
          <a:prstGeom prst="roundRect">
            <a:avLst>
              <a:gd name="adj" fmla="val 2617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831532" y="5450284"/>
            <a:ext cx="5956746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</a:t>
            </a:r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Quality Risk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31532" y="5826820"/>
            <a:ext cx="595674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Inconsistent source evaluation and citation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251843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Chatbots Fall Short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3201" y="2055118"/>
            <a:ext cx="3357082" cy="1820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269530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Hallucination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2753816"/>
            <a:ext cx="28266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provenance tracking — claims lack source attribution entirely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79290" y="2055118"/>
            <a:ext cx="3357181" cy="1820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95294" y="2269530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Black Box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495294" y="2753816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Users cannot verify reasoning chain or underlying evidence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3201" y="4064496"/>
            <a:ext cx="3357082" cy="15179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49205" y="4278908"/>
            <a:ext cx="28266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 Tool Integration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4949205" y="4763195"/>
            <a:ext cx="28266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Cannot autonomously search, validate, or cite sources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9290" y="4064496"/>
            <a:ext cx="3357181" cy="15179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495294" y="4278908"/>
            <a:ext cx="282677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Unfit for Research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8495294" y="4763195"/>
            <a:ext cx="28267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Designed for conversation — not evidence-based synthesis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MarketMind AI: The Solution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Autonomous Agent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Conducts research end-to-end with human oversight at every stage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Evidence-First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claim backed by cited sources with full provenance metadata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Transparent Reasoning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Workflow fully visible; humans approve outputs before delivery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Specialised Tools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Web search, document parsing, data extraction, and synthesis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675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Architecture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579" y="2155230"/>
            <a:ext cx="3347557" cy="33476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2784" y="1540272"/>
            <a:ext cx="6913687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Architectural Layers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622784" y="2002334"/>
            <a:ext cx="397659" cy="397669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6" name="Text 3"/>
          <p:cNvSpPr/>
          <p:nvPr/>
        </p:nvSpPr>
        <p:spPr>
          <a:xfrm>
            <a:off x="4689060" y="2035473"/>
            <a:ext cx="2651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5185737" y="2063055"/>
            <a:ext cx="635073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 Orchestrator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185737" y="2504480"/>
            <a:ext cx="635073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Manages research workflow and tool sequencing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22784" y="3108722"/>
            <a:ext cx="397659" cy="397669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0" name="Text 7"/>
          <p:cNvSpPr/>
          <p:nvPr/>
        </p:nvSpPr>
        <p:spPr>
          <a:xfrm>
            <a:off x="4689060" y="3141861"/>
            <a:ext cx="2651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5185737" y="3169444"/>
            <a:ext cx="635073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Tool System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185737" y="3610868"/>
            <a:ext cx="635073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Search, retrieval, parsing, validation, and synthesis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622784" y="4215110"/>
            <a:ext cx="397659" cy="397669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4689060" y="4248249"/>
            <a:ext cx="2651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5185737" y="4275832"/>
            <a:ext cx="635073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Evidence Store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185737" y="4717256"/>
            <a:ext cx="635073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Tracks all sources, quotes, and provenance metadata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622784" y="5321498"/>
            <a:ext cx="397659" cy="397669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4689060" y="5354638"/>
            <a:ext cx="265106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5185737" y="5382220"/>
            <a:ext cx="6350734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185737" y="5823645"/>
            <a:ext cx="635073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Review and approval gates before output delivery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70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 Components &amp; Responsibilities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65697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71075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Research Planner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119438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Decomposes brief into structured research questions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765697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271075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Source Discoverer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119438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Finds relevant documents and authoritative web sources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765697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271075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Evidence Extractor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119438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Pulls quotes, data, and key findings with citations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913287"/>
            <a:ext cx="3622882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0482" y="485834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Synthesizer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50482" y="5267027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Integrates findings into a coherent, structured narrative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913287"/>
            <a:ext cx="3622882" cy="7560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73364" y="4858345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Uncertainty Handler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473364" y="5267027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Flags gaps, conflicts, and evidence confidence levels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1842"/>
            <a:ext cx="691944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Tool System &amp; Provenance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406551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tool in the pipeline is designed around a single principle: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no claim without a source.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893" y="724694"/>
            <a:ext cx="3180774" cy="318085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230985"/>
            <a:ext cx="2592720" cy="11712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9631" y="4250035"/>
            <a:ext cx="236551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Web Search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869631" y="4607520"/>
            <a:ext cx="236551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Ranked results with source URLs and content snippets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7384" y="4230985"/>
            <a:ext cx="2592819" cy="11712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34590" y="4250035"/>
            <a:ext cx="236561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Document Retrieval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3634590" y="4607520"/>
            <a:ext cx="2365613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Extracts text from PDFs, reports, and regulatory filings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2442" y="4230985"/>
            <a:ext cx="2592720" cy="11712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99648" y="4250035"/>
            <a:ext cx="236551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Extraction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399648" y="4607520"/>
            <a:ext cx="236551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Parses tables, metrics, and structured data accurately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7401" y="4230985"/>
            <a:ext cx="2592819" cy="117127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64607" y="4250035"/>
            <a:ext cx="236561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Citation Engine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9164607" y="4607520"/>
            <a:ext cx="2365613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Maintains full quote-to-source mapping for every claim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2425" y="5670352"/>
            <a:ext cx="10887795" cy="65414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9631" y="5689402"/>
            <a:ext cx="1066059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Confidence Scoring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869631" y="6046887"/>
            <a:ext cx="1066059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Rates evidence quality and overall source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15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Research Workflow &amp; Human Approval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494830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291717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Approval &amp; Delivery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291717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Human Review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291717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Autonomous Execution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44456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 Plans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61475" y="5575796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F3E3D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843488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5723" y="581203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brief includes a full provenance record and audit trail — suitable for compliance and academic scrutiny.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1605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Security, Safety &amp; Evaluation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173956"/>
            <a:ext cx="6296860" cy="1196181"/>
          </a:xfrm>
          <a:prstGeom prst="roundRect">
            <a:avLst>
              <a:gd name="adj" fmla="val 1659"/>
            </a:avLst>
          </a:prstGeom>
          <a:solidFill>
            <a:srgbClr val="F9F7F7"/>
          </a:solidFill>
          <a:ln/>
        </p:spPr>
      </p:sp>
      <p:sp>
        <p:nvSpPr>
          <p:cNvPr id="5" name="Shape 2"/>
          <p:cNvSpPr/>
          <p:nvPr/>
        </p:nvSpPr>
        <p:spPr>
          <a:xfrm>
            <a:off x="5365616" y="1306215"/>
            <a:ext cx="396865" cy="3968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754" y="1415355"/>
            <a:ext cx="178589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5616" y="1795661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Source Validation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365616" y="2057896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Filters for credible, authoritative sources only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33360" y="2462709"/>
            <a:ext cx="6296860" cy="1196181"/>
          </a:xfrm>
          <a:prstGeom prst="roundRect">
            <a:avLst>
              <a:gd name="adj" fmla="val 1659"/>
            </a:avLst>
          </a:prstGeom>
          <a:solidFill>
            <a:srgbClr val="F9F7F7"/>
          </a:solidFill>
          <a:ln/>
        </p:spPr>
      </p:sp>
      <p:sp>
        <p:nvSpPr>
          <p:cNvPr id="10" name="Shape 6"/>
          <p:cNvSpPr/>
          <p:nvPr/>
        </p:nvSpPr>
        <p:spPr>
          <a:xfrm>
            <a:off x="5365616" y="2594967"/>
            <a:ext cx="396865" cy="3968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4754" y="2704108"/>
            <a:ext cx="178589" cy="1785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65616" y="3084413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Bias Detection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365616" y="3346648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Flags conflicting evidence and alternative viewpoints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233360" y="3751461"/>
            <a:ext cx="6296860" cy="1196181"/>
          </a:xfrm>
          <a:prstGeom prst="roundRect">
            <a:avLst>
              <a:gd name="adj" fmla="val 1659"/>
            </a:avLst>
          </a:prstGeom>
          <a:solidFill>
            <a:srgbClr val="F9F7F7"/>
          </a:solidFill>
          <a:ln/>
        </p:spPr>
      </p:sp>
      <p:sp>
        <p:nvSpPr>
          <p:cNvPr id="15" name="Shape 10"/>
          <p:cNvSpPr/>
          <p:nvPr/>
        </p:nvSpPr>
        <p:spPr>
          <a:xfrm>
            <a:off x="5365616" y="3883720"/>
            <a:ext cx="396865" cy="3968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4754" y="3992860"/>
            <a:ext cx="178589" cy="17859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5616" y="4373166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100-Point Evaluation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365616" y="4635401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Scores accuracy, completeness, citation quality, and clarity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233360" y="5040213"/>
            <a:ext cx="6296860" cy="1196181"/>
          </a:xfrm>
          <a:prstGeom prst="roundRect">
            <a:avLst>
              <a:gd name="adj" fmla="val 1659"/>
            </a:avLst>
          </a:prstGeom>
          <a:solidFill>
            <a:srgbClr val="F9F7F7"/>
          </a:solidFill>
          <a:ln/>
        </p:spPr>
      </p:sp>
      <p:sp>
        <p:nvSpPr>
          <p:cNvPr id="20" name="Shape 14"/>
          <p:cNvSpPr/>
          <p:nvPr/>
        </p:nvSpPr>
        <p:spPr>
          <a:xfrm>
            <a:off x="5365616" y="5172472"/>
            <a:ext cx="396865" cy="396875"/>
          </a:xfrm>
          <a:prstGeom prst="ellipse">
            <a:avLst/>
          </a:prstGeom>
          <a:solidFill>
            <a:srgbClr val="3E251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4754" y="5281612"/>
            <a:ext cx="178589" cy="1785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65616" y="5661918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365616" y="5924153"/>
            <a:ext cx="60323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Every decision logged for compliance and peer review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624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Expected Impact &amp; Conclusion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1291201" y="1295698"/>
            <a:ext cx="5037408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4–6h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61475" y="1961059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Brief Turnaround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2269827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Down from 28–40 hours per market brief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291201" y="2805013"/>
            <a:ext cx="5037408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10x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661475" y="3470374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Analyst Capacity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1475" y="3779143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Handle 5–10× more briefs annually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4170660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4363541"/>
            <a:ext cx="3087908" cy="1302345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1730" y="4533801"/>
            <a:ext cx="274739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Quality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31730" y="4842570"/>
            <a:ext cx="274739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Consistent, evidence-backed research with full provenance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70327" y="4363541"/>
            <a:ext cx="3088007" cy="1302345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40583" y="4533801"/>
            <a:ext cx="27474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Trust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040583" y="4842570"/>
            <a:ext cx="274749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Transparent reasoning and human oversight build stakeholder confidence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88283" y="5937945"/>
            <a:ext cx="667963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Questions?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61475" y="5801916"/>
            <a:ext cx="19050" cy="489744"/>
          </a:xfrm>
          <a:prstGeom prst="roundRect">
            <a:avLst>
              <a:gd name="adj" fmla="val 49999"/>
            </a:avLst>
          </a:prstGeom>
          <a:solidFill>
            <a:srgbClr val="3E251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2026-09-08T01:49:54Z</dcterms:created>
  <dcterms:modified xsi:type="dcterms:W3CDTF">2026-09-08T01:49:54Z</dcterms:modified>
</cp:coreProperties>
</file>